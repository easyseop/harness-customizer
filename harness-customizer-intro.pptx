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-914400"/>
            <a:ext cx="6400800" cy="8229600"/>
          </a:xfrm>
          <a:prstGeom prst="rect">
            <a:avLst/>
          </a:prstGeom>
          <a:solidFill>
            <a:srgbClr val="0A2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0" y="1371600"/>
            <a:ext cx="3657600" cy="3657600"/>
          </a:xfrm>
          <a:prstGeom prst="ellipse">
            <a:avLst/>
          </a:prstGeom>
          <a:solidFill>
            <a:srgbClr val="122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3291840" cy="292608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850392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Claude Code · ai-harness-template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harness-customizer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4A9EFF"/>
                </a:solidFill>
              </a:rPr>
              <a:t>하네스 템플릿 커스터마이징 보조 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8328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8C9E8"/>
                </a:solidFill>
              </a:rPr>
              <a:t>자연어 요구사항 한 줄이면
어느 파일을, 어떻게, 왜 바꿔야 하는지 알려드립니다.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8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3550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9EFF"/>
                </a:solidFill>
              </a:rPr>
              <a:t>github.com/easyseop/harness-customizer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왜 이 봇이 필요한가?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8C9E8"/>
                </a:solidFill>
              </a:rPr>
              <a:t>하네스 템플릿은 강력하지만, 커스터마이징에는 세 가지 장벽이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3566160" cy="3200400"/>
          </a:xfrm>
          <a:prstGeom prst="rect">
            <a:avLst/>
          </a:prstGeom>
          <a:solidFill>
            <a:srgbClr val="2A3A5A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192024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</a:rPr>
              <a:t>🗂️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4A9EFF"/>
                </a:solidFill>
              </a:rPr>
              <a:t>어디를 고쳐야 할지 모른다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3756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8C9E8"/>
                </a:solidFill>
              </a:rPr>
              <a:t>agents/ commands/ gates/ boundaries/…
14개 영역, 수십 개의 파일 중 어디를 건드려야 하는지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737360"/>
            <a:ext cx="3566160" cy="3200400"/>
          </a:xfrm>
          <a:prstGeom prst="rect">
            <a:avLst/>
          </a:prstGeom>
          <a:solidFill>
            <a:srgbClr val="2A3A5A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192024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</a:rPr>
              <a:t>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697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4A9EFF"/>
                </a:solidFill>
              </a:rPr>
              <a:t>고쳤을 때 효과를 알 수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33756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8C9E8"/>
                </a:solidFill>
              </a:rPr>
              <a:t>수정 후 실제로 AI 행동이 바뀌는지,
의도한 대로 작동하는지 확인할 방법이 없음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737360"/>
            <a:ext cx="3566160" cy="3200400"/>
          </a:xfrm>
          <a:prstGeom prst="rect">
            <a:avLst/>
          </a:prstGeom>
          <a:solidFill>
            <a:srgbClr val="2A3A5A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192024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697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4A9EFF"/>
                </a:solidFill>
              </a:rPr>
              <a:t>무엇이 base와 다른지 모른다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33756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8C9E8"/>
                </a:solidFill>
              </a:rPr>
              <a:t>변경이 쌓일수록 원본 템플릿과 무엇이 달라졌는지
파악하기 점점 어려워짐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120640"/>
            <a:ext cx="11155680" cy="640080"/>
          </a:xfrm>
          <a:prstGeom prst="rect">
            <a:avLst/>
          </a:prstGeom>
          <a:solidFill>
            <a:srgbClr val="0A2A1A"/>
          </a:solidFill>
          <a:ln w="19050">
            <a:solidFill>
              <a:srgbClr val="06D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212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6D68A"/>
                </a:solidFill>
              </a:rPr>
              <a:t>✅  harness-customizer가 세 가지를 모두 해결합니다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먼저 — 하네스 템플릿이란?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5303520" cy="4663440"/>
          </a:xfrm>
          <a:prstGeom prst="rect">
            <a:avLst/>
          </a:prstGeom>
          <a:solidFill>
            <a:srgbClr val="2A3A5A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9EFF"/>
                </a:solidFill>
              </a:rPr>
              <a:t>ai-harness-template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66B"/>
                </a:solidFill>
              </a:rPr>
              <a:t>├─ agents/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691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9E8"/>
                </a:solidFill>
              </a:rPr>
              <a:t>AI 에이전트 페르소나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6712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66B"/>
                </a:solidFill>
              </a:rPr>
              <a:t>├─ commands/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16712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9E8"/>
                </a:solidFill>
              </a:rPr>
              <a:t>슬래시 커맨드 워크플로우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42616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66B"/>
                </a:solidFill>
              </a:rPr>
              <a:t>├─ gates/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64261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9E8"/>
                </a:solidFill>
              </a:rPr>
              <a:t>자동 탐지·차단 스크립트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118104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66B"/>
                </a:solidFill>
              </a:rPr>
              <a:t>├─ boundaries/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118104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9E8"/>
                </a:solidFill>
              </a:rPr>
              <a:t>훅·권한 프리셋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66B"/>
                </a:solidFill>
              </a:rPr>
              <a:t>├─ methodologies/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59359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9E8"/>
                </a:solidFill>
              </a:rPr>
              <a:t>개발 방법론 모음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0690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66B"/>
                </a:solidFill>
              </a:rPr>
              <a:t>├─ ouroboros/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0690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9E8"/>
                </a:solidFill>
              </a:rPr>
              <a:t>Seed 명세 템플릿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54456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66B"/>
                </a:solidFill>
              </a:rPr>
              <a:t>├─ CLAUDE.md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45445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9E8"/>
                </a:solidFill>
              </a:rPr>
              <a:t>전역 AI 행동 지침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097280"/>
            <a:ext cx="5486400" cy="2011680"/>
          </a:xfrm>
          <a:prstGeom prst="rect">
            <a:avLst/>
          </a:prstGeom>
          <a:solidFill>
            <a:srgbClr val="0A223A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1887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AA"/>
                </a:solidFill>
              </a:rPr>
              <a:t>💡 한 줄 정의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69164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Claude Code로 개발할 때
AI가 어떻게 생각하고,
어떤 순서로 일하고,
무엇을 차단할지를
정의하는 "규칙 묶음"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291840"/>
            <a:ext cx="5486400" cy="2468880"/>
          </a:xfrm>
          <a:prstGeom prst="rect">
            <a:avLst/>
          </a:prstGeom>
          <a:solidFill>
            <a:srgbClr val="1A2A0A"/>
          </a:solidFill>
          <a:ln w="19050">
            <a:solidFill>
              <a:srgbClr val="06D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338328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D68A"/>
                </a:solidFill>
              </a:rPr>
              <a:t>🏦 은행 내부망 배포 시나리오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88620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8C9E8"/>
                </a:solidFill>
              </a:rPr>
              <a:t>외부망에서 이 템플릿으로 개발
     ↓
반입 시 행내 정책에 맞게
템플릿을 커스터마이징
     ↓
개발자는 커스텀 규칙 하에 코딩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커스터마이징 봇 — 개념 한 눈에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1645920" cy="1280160"/>
          </a:xfrm>
          <a:prstGeom prst="rect">
            <a:avLst/>
          </a:prstGeom>
          <a:solidFill>
            <a:srgbClr val="12223A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463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4A9EFF"/>
                </a:solidFill>
              </a:rPr>
              <a:t>개발자
요구사항 입력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210312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B8C9E8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423160" y="1645920"/>
            <a:ext cx="1645920" cy="1280160"/>
          </a:xfrm>
          <a:prstGeom prst="rect">
            <a:avLst/>
          </a:prstGeom>
          <a:solidFill>
            <a:srgbClr val="12223A"/>
          </a:solidFill>
          <a:ln w="190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4600" y="1783080"/>
            <a:ext cx="1463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8C42"/>
                </a:solidFill>
              </a:rPr>
              <a:t>대상 파일
자동 탐색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210312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B8C9E8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1645920"/>
            <a:ext cx="1645920" cy="1280160"/>
          </a:xfrm>
          <a:prstGeom prst="rect">
            <a:avLst/>
          </a:prstGeom>
          <a:solidFill>
            <a:srgbClr val="12223A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19" y="1783080"/>
            <a:ext cx="1463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AA"/>
                </a:solidFill>
              </a:rPr>
              <a:t>수정 내용
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599" y="210312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B8C9E8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199" y="1645920"/>
            <a:ext cx="1645920" cy="1280160"/>
          </a:xfrm>
          <a:prstGeom prst="rect">
            <a:avLst/>
          </a:prstGeom>
          <a:solidFill>
            <a:srgbClr val="12223A"/>
          </a:solidFill>
          <a:ln w="19050">
            <a:solidFill>
              <a:srgbClr val="FFD6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39" y="1783080"/>
            <a:ext cx="1463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66B"/>
                </a:solidFill>
              </a:rPr>
              <a:t>Before/After
시뮬레이션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19" y="210312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B8C9E8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19" y="1645920"/>
            <a:ext cx="1645920" cy="1280160"/>
          </a:xfrm>
          <a:prstGeom prst="rect">
            <a:avLst/>
          </a:prstGeom>
          <a:solidFill>
            <a:srgbClr val="12223A"/>
          </a:solidFill>
          <a:ln w="19050">
            <a:solidFill>
              <a:srgbClr val="06D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59" y="1783080"/>
            <a:ext cx="1463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D68A"/>
                </a:solidFill>
              </a:rPr>
              <a:t>효과 판정
Pass/Fail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10312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B8C9E8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21240" y="1645920"/>
            <a:ext cx="1645920" cy="1280160"/>
          </a:xfrm>
          <a:prstGeom prst="rect">
            <a:avLst/>
          </a:prstGeom>
          <a:solidFill>
            <a:srgbClr val="12223A"/>
          </a:solidFill>
          <a:ln w="1905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12680" y="1783080"/>
            <a:ext cx="1463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4D6D"/>
                </a:solidFill>
              </a:rPr>
              <a:t>승인 후
실제 적용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2004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핵심 특징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749039"/>
            <a:ext cx="5486400" cy="1005840"/>
          </a:xfrm>
          <a:prstGeom prst="rect">
            <a:avLst/>
          </a:prstGeom>
          <a:solidFill>
            <a:srgbClr val="2A3A5A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84047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9EFF"/>
                </a:solidFill>
              </a:rPr>
              <a:t>🎯  승인 전까지 파일 수정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25195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9E8"/>
                </a:solidFill>
              </a:rPr>
              <a:t>시뮬레이션은 LLM 예측 — 실제 파일은 yes 할 때만 바뀜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3749039"/>
            <a:ext cx="5486400" cy="1005840"/>
          </a:xfrm>
          <a:prstGeom prst="rect">
            <a:avLst/>
          </a:prstGeom>
          <a:solidFill>
            <a:srgbClr val="2A3A5A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84047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9EFF"/>
                </a:solidFill>
              </a:rPr>
              <a:t>📚  HARNESS-MAP.md 기반 탐색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25195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9E8"/>
                </a:solidFill>
              </a:rPr>
              <a:t>전체 스캔 없이 요구사항 → 파일을 즉시 좁혀서 찾음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937759"/>
            <a:ext cx="5486400" cy="1005840"/>
          </a:xfrm>
          <a:prstGeom prst="rect">
            <a:avLst/>
          </a:prstGeom>
          <a:solidFill>
            <a:srgbClr val="2A3A5A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02919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9EFF"/>
                </a:solidFill>
              </a:rPr>
              <a:t>📝  변경 이력 자동 누적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44067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9E8"/>
                </a:solidFill>
              </a:rPr>
              <a:t>customization-log.md에 날짜·이유·영역 코드 자동 기록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937759"/>
            <a:ext cx="5486400" cy="1005840"/>
          </a:xfrm>
          <a:prstGeom prst="rect">
            <a:avLst/>
          </a:prstGeom>
          <a:solidFill>
            <a:srgbClr val="2A3A5A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502919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9EFF"/>
                </a:solidFill>
              </a:rPr>
              <a:t>🧠  도메인 지식 주입 가능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544067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9E8"/>
                </a:solidFill>
              </a:rPr>
              <a:t>사내 시스템 정보를 domain-knowledge/에 넣으면 정밀도 향상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4개 에이전트 — 역할 분담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2651760" cy="5029200"/>
          </a:xfrm>
          <a:prstGeom prst="rect">
            <a:avLst/>
          </a:prstGeom>
          <a:solidFill>
            <a:srgbClr val="2A3A5A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2651760" cy="64008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</a:rPr>
              <a:t>🧭 navigator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9EFF"/>
                </a:solidFill>
              </a:rPr>
              <a:t>요구사항 분석 · 파일 탐색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860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• 도메인 키워드 감지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• domain-knowledge/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36976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• HARNESS-MAP.md 기반으로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712464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• 수정 대상 파일 식별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5623560"/>
            <a:ext cx="2377440" cy="320040"/>
          </a:xfrm>
          <a:prstGeom prst="rect">
            <a:avLst/>
          </a:prstGeom>
          <a:solidFill>
            <a:srgbClr val="08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6509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9EFF"/>
                </a:solidFill>
              </a:rPr>
              <a:t>tools: Read, Grep, Glob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1097280"/>
            <a:ext cx="2651760" cy="5029200"/>
          </a:xfrm>
          <a:prstGeom prst="rect">
            <a:avLst/>
          </a:prstGeom>
          <a:solidFill>
            <a:srgbClr val="2A3A5A"/>
          </a:solidFill>
          <a:ln w="190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83280" y="1097280"/>
            <a:ext cx="2651760" cy="64008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0" y="114300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</a:rPr>
              <a:t>✏️ customizer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18288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42"/>
                </a:solidFill>
              </a:rPr>
              <a:t>수정 제안 · 승인 · 로그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22860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• 파일 Read 후 수정 내용 생성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76148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• 승인/수정/취소 처리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3236976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• 파일 실제 수정 (yes 시)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3712464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• customization-log.md 기록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40" y="5623560"/>
            <a:ext cx="2377440" cy="320040"/>
          </a:xfrm>
          <a:prstGeom prst="rect">
            <a:avLst/>
          </a:prstGeom>
          <a:solidFill>
            <a:srgbClr val="08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0" y="56509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9EFF"/>
                </a:solidFill>
              </a:rPr>
              <a:t>tools: Read, Write, Edit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1097280"/>
            <a:ext cx="2651760" cy="5029200"/>
          </a:xfrm>
          <a:prstGeom prst="rect">
            <a:avLst/>
          </a:prstGeom>
          <a:solidFill>
            <a:srgbClr val="2A3A5A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1097280"/>
            <a:ext cx="2651760" cy="64008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14300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</a:rPr>
              <a:t>🔮 simulator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8288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AA"/>
                </a:solidFill>
              </a:rPr>
              <a:t>Before/After 시뮬레이션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22860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• 파일 타입별 시뮬레이션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276148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• (agent md / command md /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3236976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•  gate sh / yaml)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3712464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• 파일 미수정 — 예측만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6520" y="5623560"/>
            <a:ext cx="2377440" cy="320040"/>
          </a:xfrm>
          <a:prstGeom prst="rect">
            <a:avLst/>
          </a:prstGeom>
          <a:solidFill>
            <a:srgbClr val="08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56509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9EFF"/>
                </a:solidFill>
              </a:rPr>
              <a:t>tools: Read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35440" y="1097280"/>
            <a:ext cx="2651760" cy="5029200"/>
          </a:xfrm>
          <a:prstGeom prst="rect">
            <a:avLst/>
          </a:prstGeom>
          <a:solidFill>
            <a:srgbClr val="2A3A5A"/>
          </a:solidFill>
          <a:ln w="19050">
            <a:solidFill>
              <a:srgbClr val="06D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35440" y="1097280"/>
            <a:ext cx="2651760" cy="640080"/>
          </a:xfrm>
          <a:prstGeom prst="rect">
            <a:avLst/>
          </a:prstGeom>
          <a:solidFill>
            <a:srgbClr val="06D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114300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</a:rPr>
              <a:t>⚖️ judge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0" y="18288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8A"/>
                </a:solidFill>
              </a:rPr>
              <a:t>효과 판정 · 충분성 평가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2600" y="22860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• Before/After 비교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72600" y="276148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• Pass / Fail 판정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72600" y="3236976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• 도메인 지식 부족 감지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600" y="3712464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• KNOWLEDGE-GAPS.md 기록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372600" y="5623560"/>
            <a:ext cx="2377440" cy="320040"/>
          </a:xfrm>
          <a:prstGeom prst="rect">
            <a:avLst/>
          </a:prstGeom>
          <a:solidFill>
            <a:srgbClr val="08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18320" y="56509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9EFF"/>
                </a:solidFill>
              </a:rPr>
              <a:t>tools: Read, Write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/customize 워크플로우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3566160" cy="2331720"/>
          </a:xfrm>
          <a:prstGeom prst="rect">
            <a:avLst/>
          </a:prstGeom>
          <a:solidFill>
            <a:srgbClr val="2A3A5A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3566160" cy="5029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</a:rPr>
              <a:t>Step 0~1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0F172A"/>
                </a:solidFill>
              </a:rPr>
              <a:t>navigator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3736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9E8"/>
                </a:solidFill>
              </a:rPr>
              <a:t>도메인 키워드 감지
→ domain-knowledge/ 확인
HARNESS-MAP.md 참조
→ 파일 경로 + 영역 코드 출력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097280"/>
            <a:ext cx="3566160" cy="2331720"/>
          </a:xfrm>
          <a:prstGeom prst="rect">
            <a:avLst/>
          </a:prstGeom>
          <a:solidFill>
            <a:srgbClr val="2A3A5A"/>
          </a:solidFill>
          <a:ln w="190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097280"/>
            <a:ext cx="3566160" cy="50292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17043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</a:rP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0F172A"/>
                </a:solidFill>
              </a:rPr>
              <a:t>customizer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73736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9E8"/>
                </a:solidFill>
              </a:rPr>
              <a:t>대상 파일 Read
현재 스타일 분석
삽입 위치·내용·이유 제안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097280"/>
            <a:ext cx="3566160" cy="2331720"/>
          </a:xfrm>
          <a:prstGeom prst="rect">
            <a:avLst/>
          </a:prstGeom>
          <a:solidFill>
            <a:srgbClr val="2A3A5A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097280"/>
            <a:ext cx="3566160" cy="502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17043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</a:rPr>
              <a:t>Step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0F172A"/>
                </a:solidFill>
              </a:rPr>
              <a:t>simulator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173736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9E8"/>
                </a:solidFill>
              </a:rPr>
              <a:t>동일 시나리오로
Before 실행 → After 실행
(파일 수정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49039"/>
            <a:ext cx="3566160" cy="2331720"/>
          </a:xfrm>
          <a:prstGeom prst="rect">
            <a:avLst/>
          </a:prstGeom>
          <a:solidFill>
            <a:srgbClr val="2A3A5A"/>
          </a:solidFill>
          <a:ln w="19050">
            <a:solidFill>
              <a:srgbClr val="FFD6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749039"/>
            <a:ext cx="3566160" cy="502920"/>
          </a:xfrm>
          <a:prstGeom prst="rect">
            <a:avLst/>
          </a:prstGeom>
          <a:solidFill>
            <a:srgbClr val="FFD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822191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</a:rPr>
              <a:t>Step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384047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0F172A"/>
                </a:solidFill>
              </a:rPr>
              <a:t>judge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38912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9E8"/>
                </a:solidFill>
              </a:rPr>
              <a:t>요구사항 달성 판정
Pass → Step 5
Fail → Step 2 재시도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3749039"/>
            <a:ext cx="3566160" cy="2331720"/>
          </a:xfrm>
          <a:prstGeom prst="rect">
            <a:avLst/>
          </a:prstGeom>
          <a:solidFill>
            <a:srgbClr val="2A3A5A"/>
          </a:solidFill>
          <a:ln w="19050">
            <a:solidFill>
              <a:srgbClr val="06D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43400" y="3749039"/>
            <a:ext cx="3566160" cy="502920"/>
          </a:xfrm>
          <a:prstGeom prst="rect">
            <a:avLst/>
          </a:prstGeom>
          <a:solidFill>
            <a:srgbClr val="06D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60" y="3822191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</a:rPr>
              <a:t>Step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384047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0F172A"/>
                </a:solidFill>
              </a:rPr>
              <a:t>customizer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38912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9E8"/>
                </a:solidFill>
              </a:rPr>
              <a:t>yes → 파일 수정
       + 로그 기록
수정요청 → Step 2
취소 → 종료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3749039"/>
            <a:ext cx="3566160" cy="2331720"/>
          </a:xfrm>
          <a:prstGeom prst="rect">
            <a:avLst/>
          </a:prstGeom>
          <a:solidFill>
            <a:srgbClr val="2A3A5A"/>
          </a:solidFill>
          <a:ln w="1905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0" y="3749039"/>
            <a:ext cx="3566160" cy="5029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60" y="3822191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</a:rPr>
              <a:t>Step 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384047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0F172A"/>
                </a:solidFill>
              </a:rPr>
              <a:t>judge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38912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9E8"/>
                </a:solidFill>
              </a:rPr>
              <a:t>충분성 자동 평가
부족 신호 감지 시
KNOWLEDGE-GAPS.md
자동 기록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82880"/>
            <a:ext cx="822960" cy="292608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시나리오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인터뷰어에 특정 질문 추가하기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11155680" cy="594360"/>
          </a:xfrm>
          <a:prstGeom prst="rect">
            <a:avLst/>
          </a:prstGeom>
          <a:solidFill>
            <a:srgbClr val="0A1E3A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9EFF"/>
                </a:solidFill>
              </a:rPr>
              <a:t>💬 개발자 입력: "인터뷰어가 SSL/TLS 사설 CA 인증서 질문을 항상 하도록 하고 싶어"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57400"/>
            <a:ext cx="5394960" cy="4160520"/>
          </a:xfrm>
          <a:prstGeom prst="rect">
            <a:avLst/>
          </a:prstGeom>
          <a:solidFill>
            <a:srgbClr val="2A3A5A"/>
          </a:solidFill>
          <a:ln w="1905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48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D6D"/>
                </a:solidFill>
              </a:rPr>
              <a:t>BEFORE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0604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개발자: "외부 결제 API 호출 기능 만들려고요"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0779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2095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인터뷰어: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1129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Q1. "정확히 무슨 의미인가요?"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8130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Q2. "결제 실패 시 어떤 동작을 원하나요?"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Q3. "이것 없이도 될 수 있나요?"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41655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183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→ Ambiguity Score 0.2 이하 → 종료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2005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2180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4D6D"/>
                </a:solidFill>
              </a:rPr>
              <a:t>⚠️  SSL/TLS CA 질문: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62356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4D6D"/>
                </a:solidFill>
              </a:rPr>
              <a:t>⚠️  seed spec에 TLS 정책 누락 가능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2057400"/>
            <a:ext cx="5394960" cy="4160520"/>
          </a:xfrm>
          <a:prstGeom prst="rect">
            <a:avLst/>
          </a:prstGeom>
          <a:solidFill>
            <a:srgbClr val="2A3A5A"/>
          </a:solidFill>
          <a:ln w="19050">
            <a:solidFill>
              <a:srgbClr val="06D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148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D68A"/>
                </a:solidFill>
              </a:rPr>
              <a:t>AFTER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60604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개발자: "외부 결제 API 호출 기능 만들려고요"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90779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2095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인터뷰어: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51129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Q1. "정확히 무슨 의미인가요?"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8130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Q2. "결제 실패 시 어떤 동작을 원하나요?"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1148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Q3. "이것 없이도 될 수 있나요?"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41655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7183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(Mandatory) Q4. "사설 CA 인증서를 신뢰해야 하는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02005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          환경인가요? (SSL/TLS)"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32180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62356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8A"/>
                </a:solidFill>
              </a:rPr>
              <a:t>✅  SSL/TLS 확인 완료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92531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8A"/>
                </a:solidFill>
              </a:rPr>
              <a:t>✅  seed spec에 TLS 정책 포함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15000" y="356616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8C9E8"/>
                </a:solidFill>
              </a:rPr>
              <a:t>←  동일 시나리오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82880"/>
            <a:ext cx="822960" cy="29260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시나리오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외부 서비스 → 행내 솔루션 교체 구조 강제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11155680" cy="594360"/>
          </a:xfrm>
          <a:prstGeom prst="rect">
            <a:avLst/>
          </a:prstGeom>
          <a:solidFill>
            <a:srgbClr val="1A100A"/>
          </a:solidFill>
          <a:ln w="190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42"/>
                </a:solidFill>
              </a:rPr>
              <a:t>💬 개발자 입력: "메일 시스템은 반드시 행내 솔루션을 사용하도록 강제하고 싶어"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5120640" cy="1920240"/>
          </a:xfrm>
          <a:prstGeom prst="rect">
            <a:avLst/>
          </a:prstGeom>
          <a:solidFill>
            <a:srgbClr val="2A0810"/>
          </a:solidFill>
          <a:ln w="1905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4D6D"/>
                </a:solidFill>
              </a:rPr>
              <a:t>❌  단순히 '행내 솔루션만' 강제하면?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5176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9E8"/>
                </a:solidFill>
              </a:rPr>
              <a:t>외부망 개발 중엔 행내 솔루션에
접근 자체가 불가능
→ 개발이 막히거나 나중에 코드 전면 재작업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2103120"/>
            <a:ext cx="5852160" cy="1920240"/>
          </a:xfrm>
          <a:prstGeom prst="rect">
            <a:avLst/>
          </a:prstGeom>
          <a:solidFill>
            <a:srgbClr val="0A2012"/>
          </a:solidFill>
          <a:ln w="19050">
            <a:solidFill>
              <a:srgbClr val="06D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21945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D68A"/>
                </a:solidFill>
              </a:rPr>
              <a:t>✅  봇이 제안하는 올바른 방향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65176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9E8"/>
                </a:solidFill>
              </a:rPr>
              <a:t>interface MailSender 로 추상화
  • 외부 개발: MockMailSender
  • 행내 배포: InternalMailSender
환경변수(APP_ENV)로 구현체만 교체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206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수정 대상 파일 (5개 영역):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709160"/>
            <a:ext cx="11064240" cy="347472"/>
          </a:xfrm>
          <a:prstGeom prst="rect">
            <a:avLst/>
          </a:prstGeom>
          <a:solidFill>
            <a:srgbClr val="101A2A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74573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AA"/>
                </a:solidFill>
              </a:rPr>
              <a:t>CLAUDE.md (N)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745736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Absolute Rules: 인터페이스 추상화 필수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093208"/>
            <a:ext cx="11064240" cy="347472"/>
          </a:xfrm>
          <a:prstGeom prst="rect">
            <a:avLst/>
          </a:prstGeom>
          <a:solidFill>
            <a:srgbClr val="101A2A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12978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9EFF"/>
                </a:solidFill>
              </a:rPr>
              <a:t>interviewer.md 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12978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외부 서비스 감지 시 행내 교체 여부 필수 질문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477256"/>
            <a:ext cx="11064240" cy="347472"/>
          </a:xfrm>
          <a:prstGeom prst="rect">
            <a:avLst/>
          </a:prstGeom>
          <a:solidFill>
            <a:srgbClr val="101A2A"/>
          </a:solidFill>
          <a:ln w="190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51383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8C42"/>
                </a:solidFill>
              </a:rPr>
              <a:t>seed-architect.md (A)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51383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provider_dev / provider_internal 필드 강제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861304"/>
            <a:ext cx="11064240" cy="347472"/>
          </a:xfrm>
          <a:prstGeom prst="rect">
            <a:avLst/>
          </a:prstGeom>
          <a:solidFill>
            <a:srgbClr val="101A2A"/>
          </a:solidFill>
          <a:ln w="19050">
            <a:solidFill>
              <a:srgbClr val="FFD6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897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D66B"/>
                </a:solidFill>
              </a:rPr>
              <a:t>check-security.sh 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89788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외부 SDK 도메인 레이어 직접 import → 커밋 차단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245352"/>
            <a:ext cx="11064240" cy="347472"/>
          </a:xfrm>
          <a:prstGeom prst="rect">
            <a:avLst/>
          </a:prstGeom>
          <a:solidFill>
            <a:srgbClr val="101A2A"/>
          </a:solidFill>
          <a:ln w="1905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62819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4D6D"/>
                </a:solidFill>
              </a:rPr>
              <a:t>boundaries.yaml 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628192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sendgrid, boto3 ses 등 라이브러리 선언적 금지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사내 도메인 지식 주입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8C9E8"/>
                </a:solidFill>
              </a:rPr>
              <a:t>행내 시스템 정보를 넣으면 시뮬레이션 정밀도가 올라갑니다.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5212080" cy="2103120"/>
          </a:xfrm>
          <a:prstGeom prst="rect">
            <a:avLst/>
          </a:prstGeom>
          <a:solidFill>
            <a:srgbClr val="2A3A5A"/>
          </a:solidFill>
          <a:ln w="1905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D6D"/>
                </a:solidFill>
              </a:rPr>
              <a:t>도메인 지식 없을 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9E8"/>
                </a:solidFill>
              </a:rPr>
              <a:t>• "일반적인 SMTP 방식으로…"
• "담당팀에 확인이 필요합니다"
• "보통 이런 방식을 씁니다"
→ 추상적 답변 → 실용성 낮음
→ KNOWLEDGE-GAPS.md 자동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600200"/>
            <a:ext cx="5394960" cy="2103120"/>
          </a:xfrm>
          <a:prstGeom prst="rect">
            <a:avLst/>
          </a:prstGeom>
          <a:solidFill>
            <a:srgbClr val="2A3A5A"/>
          </a:solidFill>
          <a:ln w="19050">
            <a:solidFill>
              <a:srgbClr val="06D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916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D68A"/>
                </a:solidFill>
              </a:rPr>
              <a:t>도메인 지식 있을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1488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9E8"/>
                </a:solidFill>
              </a:rPr>
              <a:t>• "GroupMail API를 사용해서…"
• "GROUPMAIL_TOKEN 환경변수로 인증"
• "첨부파일 최대 10MB 제한 적용"
→ 구체적 코드·설정까지 제안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862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domain-knowledge/ 폴더에 md 파일 추가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389120"/>
            <a:ext cx="11064240" cy="1920240"/>
          </a:xfrm>
          <a:prstGeom prst="rect">
            <a:avLst/>
          </a:prstGeom>
          <a:solidFill>
            <a:srgbClr val="0A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480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66B"/>
                </a:solidFill>
              </a:rPr>
              <a:t>📄 mail-solution.md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82803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행내 메일 솔루션명 · API 방식 · 인증 방법 · 용량 제한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480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66B"/>
                </a:solidFill>
              </a:rPr>
              <a:t>📄 sso.md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행내 SSO 연동 방식 · 토큰 형식 · 세션 정책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57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66B"/>
                </a:solidFill>
              </a:rPr>
              <a:t>📄 internal-ca.md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0527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사설 CA 인증서 경로 · 신뢰 등록 방법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257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66B"/>
                </a:solidFill>
              </a:rPr>
              <a:t>📄 storage.md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60527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행내 스토리지 접근 방식 · 경로 규칙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변경 이력 자동 관리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502920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88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8C9E8"/>
                </a:solidFill>
              </a:rPr>
              <a:t>수정이 적용될 때마다 customization-log.md에 자동 기록됩니다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6858000" cy="2743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9EFF"/>
                </a:solidFill>
              </a:rPr>
              <a:t># customization-log.md 예시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6400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9E8"/>
                </a:solidFill>
              </a:rPr>
              <a:t>| # | 날짜       | 요구사항 요약            | 파일              | 영역 |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06040"/>
            <a:ext cx="6400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9E8"/>
                </a:solidFill>
              </a:rPr>
              <a:t>|---|------------|--------------------------|-------------------|------|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6400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9E8"/>
                </a:solidFill>
              </a:rPr>
              <a:t>| 1 | 2026-05-14 | SSL/TLS CA 질문 추가     | interviewer.md    |  A   |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46120"/>
            <a:ext cx="6400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9E8"/>
                </a:solidFill>
              </a:rPr>
              <a:t>|   |            | └ 이유: 행내 사설 CA 대응 |                   |      |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6400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9E8"/>
                </a:solidFill>
              </a:rPr>
              <a:t>| 2 | 2026-05-14 | 외부 메일 서비스 차단     | check-security.sh |  C   |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86200"/>
            <a:ext cx="6400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9E8"/>
                </a:solidFill>
              </a:rPr>
              <a:t>|   |            | └ 이유: 행내 솔루션 정책  |                   |      |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20" y="1783080"/>
            <a:ext cx="3931920" cy="2743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1874519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9EFF"/>
                </a:solidFill>
              </a:rPr>
              <a:t>영역별 누적 변경 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2331720"/>
            <a:ext cx="3017520" cy="384048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20" y="2395727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9E8"/>
                </a:solidFill>
              </a:rPr>
              <a:t>A agents/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2331720"/>
            <a:ext cx="411480" cy="384048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77272" y="2395727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80960" y="2834639"/>
            <a:ext cx="3017520" cy="384048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2898647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9E8"/>
                </a:solidFill>
              </a:rPr>
              <a:t>C gates/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49840" y="2834639"/>
            <a:ext cx="411480" cy="384048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77272" y="2898647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0" y="3337560"/>
            <a:ext cx="3017520" cy="384048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8120" y="340156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9E8"/>
                </a:solidFill>
              </a:rPr>
              <a:t>N CLAUDE.md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0" y="3337560"/>
            <a:ext cx="411480" cy="384048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77272" y="3401568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709160"/>
            <a:ext cx="11064240" cy="178308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800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AA"/>
                </a:solidFill>
              </a:rPr>
              <a:t>구조 변경은 AS-IS → TO-BE 로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2578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9E8"/>
                </a:solidFill>
              </a:rPr>
              <a:t>AS-IS:  harness-customizer (단일 md 파일)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6235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8A"/>
                </a:solidFill>
              </a:rPr>
              <a:t>TO-BE:  navigator → customizer → simulator → judge  (4개 분리)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5989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9E8"/>
                </a:solidFill>
              </a:rPr>
              <a:t>추가 이유: 단일 파일 과부하로 성능 저하 우려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현재 수준과 한계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5394960" cy="5029200"/>
          </a:xfrm>
          <a:prstGeom prst="rect">
            <a:avLst/>
          </a:prstGeom>
          <a:solidFill>
            <a:srgbClr val="2A3A5A"/>
          </a:solidFill>
          <a:ln w="19050">
            <a:solidFill>
              <a:srgbClr val="06D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887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D68A"/>
                </a:solidFill>
              </a:rPr>
              <a:t>✅  현재 할 수 있는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49377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자연어 요구사항 → 대상 파일 자동 탐색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75104"/>
            <a:ext cx="49377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(14개 영역, HARNESS-MAP.md 기반)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58568"/>
            <a:ext cx="49377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49377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파일 타입별 Before/After 시뮬레이션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25496"/>
            <a:ext cx="49377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(agent md / command md / gate sh / yaml)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08960"/>
            <a:ext cx="49377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92424"/>
            <a:ext cx="49377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수정 승인 시 실제 파일 Edit/Write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675887"/>
            <a:ext cx="49377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959352"/>
            <a:ext cx="49377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customization-log.md 자동 누적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242816"/>
            <a:ext cx="49377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(날짜 · 요구사항 · 영역 코드 · 이유)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526280"/>
            <a:ext cx="49377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809744"/>
            <a:ext cx="49377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도메인 지식 주입 경로 안내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93208"/>
            <a:ext cx="49377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(domain-knowledge/ + KNOWLEDGE-GAPS.md)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376672"/>
            <a:ext cx="49377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660136"/>
            <a:ext cx="49377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구조 변경 AS-IS → TO-BE 이력 관리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1097280"/>
            <a:ext cx="5394960" cy="5029200"/>
          </a:xfrm>
          <a:prstGeom prst="rect">
            <a:avLst/>
          </a:prstGeom>
          <a:solidFill>
            <a:srgbClr val="2A3A5A"/>
          </a:solidFill>
          <a:ln w="1905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1887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4D6D"/>
                </a:solidFill>
              </a:rPr>
              <a:t>⚠️  현재 한계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691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42"/>
                </a:solidFill>
              </a:rPr>
              <a:t>• 시뮬레이션은 LLM 예측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039112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실제 AI 행동과 100% 일치 보장 없음
게이트 스크립트 실제 실행 불가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2743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42"/>
                </a:solidFill>
              </a:rPr>
              <a:t>• 행내 솔루션 정보 없음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090672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domain-knowledge/ 파일을 사람이
직접 작성해야 정밀도 상승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794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42"/>
                </a:solidFill>
              </a:rPr>
              <a:t>• 도메인 지식 자동 수집 불가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142232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사내 시스템 접근·크롤링 불가
→ 수동 주입만 지원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8463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42"/>
                </a:solidFill>
              </a:rPr>
              <a:t>• 요구사항 1건 = 파일 1~2개 단위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193792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대규모 구조 리팩토링은
단계별로 나눠서 진행 필요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지금 검증, 어디가 문제인가?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103120"/>
          </a:xfrm>
          <a:prstGeom prst="rect">
            <a:avLst/>
          </a:prstGeom>
          <a:solidFill>
            <a:srgbClr val="1A0810"/>
          </a:solidFill>
          <a:ln w="1905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D6D"/>
                </a:solidFill>
              </a:rPr>
              <a:t>현재 검증 흐름 (AS-IS)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548640"/>
          </a:xfrm>
          <a:prstGeom prst="rect">
            <a:avLst/>
          </a:prstGeom>
          <a:solidFill>
            <a:srgbClr val="2A3A5A"/>
          </a:solidFill>
          <a:ln w="19050">
            <a:solidFill>
              <a:srgbClr val="B8C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8C9E8"/>
                </a:solidFill>
              </a:rPr>
              <a:t>개발자 요구사항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7830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B8C9E8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1600200"/>
            <a:ext cx="2377440" cy="548640"/>
          </a:xfrm>
          <a:prstGeom prst="rect">
            <a:avLst/>
          </a:prstGeom>
          <a:solidFill>
            <a:srgbClr val="2A3A5A"/>
          </a:solidFill>
          <a:ln w="19050">
            <a:solidFill>
              <a:srgbClr val="B8C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16916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8C9E8"/>
                </a:solidFill>
              </a:rPr>
              <a:t>봇이 수정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7830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B8C9E8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600200"/>
            <a:ext cx="2377440" cy="548640"/>
          </a:xfrm>
          <a:prstGeom prst="rect">
            <a:avLst/>
          </a:prstGeom>
          <a:solidFill>
            <a:srgbClr val="2A3A5A"/>
          </a:solidFill>
          <a:ln w="190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8C42"/>
                </a:solidFill>
              </a:rPr>
              <a:t>시뮬레이터: "아마 이렇게 될 거예요" (예측)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7830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B8C9E8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1600200"/>
            <a:ext cx="2377440" cy="548640"/>
          </a:xfrm>
          <a:prstGeom prst="rect">
            <a:avLst/>
          </a:prstGeom>
          <a:solidFill>
            <a:srgbClr val="2A3A5A"/>
          </a:solidFill>
          <a:ln w="1905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6916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4D6D"/>
                </a:solidFill>
              </a:rPr>
              <a:t>판정봇: "그럴듯해 보이니 PASS" (예측을 채점)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2240280"/>
            <a:ext cx="2743200" cy="777240"/>
          </a:xfrm>
          <a:prstGeom prst="rect">
            <a:avLst/>
          </a:prstGeom>
          <a:solidFill>
            <a:srgbClr val="2A0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0" y="22860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4D6D"/>
                </a:solidFill>
              </a:rPr>
              <a:t>⚠️ 예측이 틀려도
PASS가 나올 수 있음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429000"/>
            <a:ext cx="11064240" cy="2560320"/>
          </a:xfrm>
          <a:prstGeom prst="rect">
            <a:avLst/>
          </a:prstGeom>
          <a:solidFill>
            <a:srgbClr val="061810"/>
          </a:solidFill>
          <a:ln w="19050">
            <a:solidFill>
              <a:srgbClr val="06D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520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D68A"/>
                </a:solidFill>
              </a:rPr>
              <a:t>원하는 검증 흐름 (TO-BE)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977639"/>
            <a:ext cx="2377440" cy="731520"/>
          </a:xfrm>
          <a:prstGeom prst="rect">
            <a:avLst/>
          </a:prstGeom>
          <a:solidFill>
            <a:srgbClr val="2A3A5A"/>
          </a:solidFill>
          <a:ln w="19050">
            <a:solidFill>
              <a:srgbClr val="B8C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0690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8C9E8"/>
                </a:solidFill>
              </a:rPr>
              <a:t>개발자 요구사항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206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B8C9E8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66160" y="3977639"/>
            <a:ext cx="2377440" cy="731520"/>
          </a:xfrm>
          <a:prstGeom prst="rect">
            <a:avLst/>
          </a:prstGeom>
          <a:solidFill>
            <a:srgbClr val="2A3A5A"/>
          </a:solidFill>
          <a:ln w="19050">
            <a:solidFill>
              <a:srgbClr val="B8C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40690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8C9E8"/>
                </a:solidFill>
              </a:rPr>
              <a:t>봇이 수정 제안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4206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B8C9E8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3977639"/>
            <a:ext cx="2377440" cy="731520"/>
          </a:xfrm>
          <a:prstGeom prst="rect">
            <a:avLst/>
          </a:prstGeom>
          <a:solidFill>
            <a:srgbClr val="2A3A5A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40690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D4AA"/>
                </a:solidFill>
              </a:rPr>
              <a:t>실제로 실행
(bash / 에이전트 호출)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206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B8C9E8"/>
                </a:solidFill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52560" y="3977639"/>
            <a:ext cx="2377440" cy="731520"/>
          </a:xfrm>
          <a:prstGeom prst="rect">
            <a:avLst/>
          </a:prstGeom>
          <a:solidFill>
            <a:srgbClr val="2A3A5A"/>
          </a:solidFill>
          <a:ln w="19050">
            <a:solidFill>
              <a:srgbClr val="06D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0" y="40690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6D68A"/>
                </a:solidFill>
              </a:rPr>
              <a:t>실제 결과로
판정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892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AA"/>
                </a:solidFill>
              </a:rPr>
              <a:t>Phase 1  게이트 스크립트 → bash 실제 실행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257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AA"/>
                </a:solidFill>
              </a:rPr>
              <a:t>Phase 2  에이전트 md → 실제 에이전트 호출해서 응답 확인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66928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D68A"/>
                </a:solidFill>
              </a:rPr>
              <a:t>→ LLM 예측이 아닌 실제 실행 결과로 판정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82880"/>
            <a:ext cx="1645920" cy="292608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향후 계획 — Phase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게이트 스크립트 실제 실행으로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8C9E8"/>
                </a:solidFill>
              </a:rPr>
              <a:t>변경 내용: harness-judge.md 에 Bash 도구 추가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5349240" cy="4389120"/>
          </a:xfrm>
          <a:prstGeom prst="rect">
            <a:avLst/>
          </a:prstGeom>
          <a:solidFill>
            <a:srgbClr val="2A3A5A"/>
          </a:solidFill>
          <a:ln w="1905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5349240" cy="5029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</a:rPr>
              <a:t>AS-IS  (지금)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7744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개발자: "sendgrid 쓰면 차단해줘"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9748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1752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봇: check-mail-solution.sh 수정 제안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3756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5760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8C42"/>
                </a:solidFill>
              </a:rPr>
              <a:t>시뮬레이터: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977639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8C42"/>
                </a:solidFill>
              </a:rPr>
              <a:t>"sendgrid import가 있으면 아마 탐지될 거예요"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97679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1772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4D6D"/>
                </a:solidFill>
              </a:rPr>
              <a:t>판정봇: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93776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4D6D"/>
                </a:solidFill>
              </a:rPr>
              <a:t>"시뮬레이션 결과가 그럴듯하니 PASS"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25780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7784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4D6D"/>
                </a:solidFill>
              </a:rPr>
              <a:t>⚠️  실제로 스크립트가 돌아가는지 모름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897879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4D6D"/>
                </a:solidFill>
              </a:rPr>
              <a:t>⚠️  예측이 틀려도 PASS 가능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783080"/>
            <a:ext cx="5349240" cy="4389120"/>
          </a:xfrm>
          <a:prstGeom prst="rect">
            <a:avLst/>
          </a:prstGeom>
          <a:solidFill>
            <a:srgbClr val="2A3A5A"/>
          </a:solidFill>
          <a:ln w="19050">
            <a:solidFill>
              <a:srgbClr val="06D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1783080"/>
            <a:ext cx="5349240" cy="502920"/>
          </a:xfrm>
          <a:prstGeom prst="rect">
            <a:avLst/>
          </a:prstGeom>
          <a:solidFill>
            <a:srgbClr val="06D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184708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</a:rPr>
              <a:t>TO-BE  (Phase 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237744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개발자: "sendgrid 쓰면 차단해줘"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269748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301752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봇: check-mail-solution.sh 수정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333756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365760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D4AA"/>
                </a:solidFill>
              </a:rPr>
              <a:t>judge (Bash):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3977639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D4AA"/>
                </a:solidFill>
              </a:rPr>
              <a:t>① test.py 생성 (import sendgrid 포함)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4297679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D4AA"/>
                </a:solidFill>
              </a:rPr>
              <a:t>② bash check-mail-solution.sh 실행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461772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D4AA"/>
                </a:solidFill>
              </a:rPr>
              <a:t>③ 실제 결과 수신: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493776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8A"/>
                </a:solidFill>
              </a:rPr>
              <a:t>   ❌ GATE FAIL — sendgrid 탐지됨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525780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557784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8A"/>
                </a:solidFill>
              </a:rPr>
              <a:t>판정봇: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5897879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8A"/>
                </a:solidFill>
              </a:rPr>
              <a:t>"실제 실행으로 확인. PASS"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6309360"/>
            <a:ext cx="11064240" cy="411480"/>
          </a:xfrm>
          <a:prstGeom prst="rect">
            <a:avLst/>
          </a:prstGeom>
          <a:solidFill>
            <a:srgbClr val="061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637336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D68A"/>
                </a:solidFill>
              </a:rPr>
              <a:t>게이트 스크립트 수정 결과는 100% 신뢰 가능해집니다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82880"/>
            <a:ext cx="1645920" cy="292608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향후 계획 — Phase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에이전트 실제 호출로 행동 변화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8C9E8"/>
                </a:solidFill>
              </a:rPr>
              <a:t>변경 내용: harness-judge.md 에 Agent 도구 추가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5349240" cy="4389120"/>
          </a:xfrm>
          <a:prstGeom prst="rect">
            <a:avLst/>
          </a:prstGeom>
          <a:solidFill>
            <a:srgbClr val="2A3A5A"/>
          </a:solidFill>
          <a:ln w="1905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5349240" cy="5029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</a:rPr>
              <a:t>AS-IS  (지금)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7744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"인터뷰어가 CA 인증서 질문 항상 하게"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9748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1752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봇: interviewer.md 수정 제안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3756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5760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8C42"/>
                </a:solidFill>
              </a:rPr>
              <a:t>시뮬레이터: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977639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8C42"/>
                </a:solidFill>
              </a:rPr>
              <a:t>"아마 이렇게 물어볼 거예요:"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97679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8C42"/>
                </a:solidFill>
              </a:rPr>
              <a:t>"사설 CA 쓰시나요? (예상)"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1772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93776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4D6D"/>
                </a:solidFill>
              </a:rPr>
              <a:t>판정봇: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25780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4D6D"/>
                </a:solidFill>
              </a:rPr>
              <a:t>"그럴듯한 질문이 나왔으니 PASS"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7784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897879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4D6D"/>
                </a:solidFill>
              </a:rPr>
              <a:t>⚠️  실제 에이전트를 돌린 게 아님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17919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4D6D"/>
                </a:solidFill>
              </a:rPr>
              <a:t>⚠️  LLM이 LLM을 평가한 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1783080"/>
            <a:ext cx="5349240" cy="4389120"/>
          </a:xfrm>
          <a:prstGeom prst="rect">
            <a:avLst/>
          </a:prstGeom>
          <a:solidFill>
            <a:srgbClr val="2A3A5A"/>
          </a:solidFill>
          <a:ln w="19050">
            <a:solidFill>
              <a:srgbClr val="06D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1783080"/>
            <a:ext cx="5349240" cy="502920"/>
          </a:xfrm>
          <a:prstGeom prst="rect">
            <a:avLst/>
          </a:prstGeom>
          <a:solidFill>
            <a:srgbClr val="06D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184708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</a:rPr>
              <a:t>TO-BE  (Phase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237744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"인터뷰어가 CA 인증서 질문 항상 하게"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269748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301752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봇: interviewer.md 수정 적용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333756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365760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D4AA"/>
                </a:solidFill>
              </a:rPr>
              <a:t>judge (Agent 도구):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3977639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D4AA"/>
                </a:solidFill>
              </a:rPr>
              <a:t>① 수정된 내용을 컨텍스트로 주입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4297679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D4AA"/>
                </a:solidFill>
              </a:rPr>
              <a:t>② 실제 인터뷰어 에이전트 호출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461772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D4AA"/>
                </a:solidFill>
              </a:rPr>
              <a:t>③ 테스트 시나리오로 대화 실행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493776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D4AA"/>
                </a:solidFill>
              </a:rPr>
              <a:t>④ 응답에 CA 질문 등장 여부 확인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525780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8A"/>
                </a:solidFill>
              </a:rPr>
              <a:t>   ✅ "사설 CA 쓰시나요?" 실제 응답 확인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557784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5897879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8A"/>
                </a:solidFill>
              </a:rPr>
              <a:t>판정봇: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6217919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8A"/>
                </a:solidFill>
              </a:rPr>
              <a:t>"실제 호출 결과로 확인. PASS"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6309360"/>
            <a:ext cx="11064240" cy="411480"/>
          </a:xfrm>
          <a:prstGeom prst="rect">
            <a:avLst/>
          </a:prstGeom>
          <a:solidFill>
            <a:srgbClr val="061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637336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D68A"/>
                </a:solidFill>
              </a:rPr>
              <a:t>에이전트 행동 변화도 실제 실행 결과로 확인 가능해집니다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개선 후 달라지는 것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3108960" cy="59436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수정 파일 종류</a:t>
            </a:r>
          </a:p>
        </p:txBody>
      </p:sp>
      <p:sp>
        <p:nvSpPr>
          <p:cNvPr id="7" name="Rectangle 6"/>
          <p:cNvSpPr/>
          <p:nvPr/>
        </p:nvSpPr>
        <p:spPr>
          <a:xfrm>
            <a:off x="3931920" y="1097280"/>
            <a:ext cx="2194560" cy="59436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59" y="114300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현재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097280"/>
            <a:ext cx="2468879" cy="59436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43000"/>
            <a:ext cx="2331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Phase 1
(Bash 추가)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1097280"/>
            <a:ext cx="2468879" cy="59436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143000"/>
            <a:ext cx="2331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Phase 2
(Agent 추가)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874519"/>
            <a:ext cx="3108960" cy="1097280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011679"/>
            <a:ext cx="2971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게이트 스크립트
(.sh)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31920" y="1874519"/>
            <a:ext cx="2194560" cy="1097280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59" y="2011679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8C42"/>
                </a:solidFill>
              </a:rPr>
              <a:t>LLM 예측 판정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874519"/>
            <a:ext cx="2468879" cy="1097280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011679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6D68A"/>
                </a:solidFill>
              </a:rPr>
              <a:t>✅ bash 실제 실행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1874519"/>
            <a:ext cx="2468879" cy="1097280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2011679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6D68A"/>
                </a:solidFill>
              </a:rPr>
              <a:t>✅ bash 실제 실행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3108960" cy="1097280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46120"/>
            <a:ext cx="2971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에이전트 정의
(.md)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31920" y="3108960"/>
            <a:ext cx="2194560" cy="1097280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23359" y="324612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8C42"/>
                </a:solidFill>
              </a:rPr>
              <a:t>LLM 예측 판정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3108960"/>
            <a:ext cx="2468879" cy="1097280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3246120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D66B"/>
                </a:solidFill>
              </a:rPr>
              <a:t>LLM 예측 판정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52560" y="3108960"/>
            <a:ext cx="2468879" cy="1097280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3246120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6D68A"/>
                </a:solidFill>
              </a:rPr>
              <a:t>✅ 에이전트 실제 호출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343400"/>
            <a:ext cx="3108960" cy="1097280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480560"/>
            <a:ext cx="2971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CLAUDE.md
/ yaml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31920" y="4343400"/>
            <a:ext cx="2194560" cy="1097280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23359" y="448056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8C42"/>
                </a:solidFill>
              </a:rPr>
              <a:t>LLM 예측 판정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5080" y="4343400"/>
            <a:ext cx="2468879" cy="1097280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4480560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D66B"/>
                </a:solidFill>
              </a:rPr>
              <a:t>구조 검증 추가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52560" y="4343400"/>
            <a:ext cx="2468879" cy="1097280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0" y="4480560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D66B"/>
                </a:solidFill>
              </a:rPr>
              <a:t>구조 검증 추가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440680"/>
            <a:ext cx="11064240" cy="594360"/>
          </a:xfrm>
          <a:prstGeom prst="rect">
            <a:avLst/>
          </a:prstGeom>
          <a:solidFill>
            <a:srgbClr val="061606"/>
          </a:solidFill>
          <a:ln w="19050">
            <a:solidFill>
              <a:srgbClr val="06D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55040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D68A"/>
                </a:solidFill>
              </a:rPr>
              <a:t>Phase 1 + Phase 2 완료 시: 수정 제안 → 실제 실행 검증 → 신뢰할 수 있는 판정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82880"/>
            <a:ext cx="1737360" cy="292608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시나리오 3 — 라이브 테스트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도메인 지식 주입 경로를 묻는 질문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solidFill>
            <a:srgbClr val="061A1A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💬 개발자 입력: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6642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"취약성 검사가 필요하여 관련 정보를 주입하고 싶은데,
 어느 경로에 어떤 내용을 적어야 할까? 솔루션 명까지 적어야 하나?"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3474720" cy="3749039"/>
          </a:xfrm>
          <a:prstGeom prst="rect">
            <a:avLst/>
          </a:prstGeom>
          <a:solidFill>
            <a:srgbClr val="2A3A5A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423160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9EFF"/>
                </a:solidFill>
              </a:rPr>
              <a:t>Phase 0 — navigator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3200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키워드: "취약성 검사"
→ 도메인 지식 주입 요청 감지
domain-knowledge/ 확인
→ 관련 파일 없음
⚠️ 도메인 지식 부족
필요 정보:
  • 솔루션명
  • 검사 범위·결과 형식
  • 기존 게이트 연동 여부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2331720"/>
            <a:ext cx="7406640" cy="3749039"/>
          </a:xfrm>
          <a:prstGeom prst="rect">
            <a:avLst/>
          </a:prstGeom>
          <a:solidFill>
            <a:srgbClr val="2A3A5A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2423160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봇의 답변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834640"/>
            <a:ext cx="7040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D66B"/>
                </a:solidFill>
              </a:rPr>
              <a:t>경로:  domain-knowledge/vulnerability-scanner.md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3090672"/>
            <a:ext cx="7040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346704"/>
            <a:ext cx="7040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포함할 내용: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3602736"/>
            <a:ext cx="7040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  • 솔루션 명  →  예: Checkmarx, Fortify, SonarQube (적어야 함)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858768"/>
            <a:ext cx="7040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  • 스캔 범위  →  정적분석(SAST)만? 오픈소스(SCA)도?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114800"/>
            <a:ext cx="7040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  • 결과 등급  →  Critical/High/Medium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4370832"/>
            <a:ext cx="7040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  • 반입 차단 기준  →  Critical 1개라도 있으면 차단?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4626864"/>
            <a:ext cx="7040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  • 리포트 형식  →  XML / JSON / HTML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4882896"/>
            <a:ext cx="7040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5138928"/>
            <a:ext cx="7040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연동할 게이트: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5394960"/>
            <a:ext cx="7040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  gates/check-security.sh (영역 C)  ← 기존 파일 수정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5650992"/>
            <a:ext cx="7040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>  또는 gates/check-vuln-policy.sh  ← 신규 게이트 생성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5907024"/>
            <a:ext cx="7040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9E8"/>
                </a:solidFill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6163056"/>
            <a:ext cx="7040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8C42"/>
                </a:solidFill>
              </a:rPr>
              <a:t>솔루션명이 없으면: 일반 원칙 수준으로만 제안 가능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6419088"/>
            <a:ext cx="7040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8C42"/>
                </a:solidFill>
              </a:rPr>
              <a:t>  → KNOWLEDGE-GAPS.md에 '솔루션명' 항목 자동 기록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시작하는 법 — 3단계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1417320"/>
          </a:xfrm>
          <a:prstGeom prst="rect">
            <a:avLst/>
          </a:prstGeom>
          <a:solidFill>
            <a:srgbClr val="2A3A5A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640080" cy="14173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F172A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29844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9EFF"/>
                </a:solidFill>
              </a:rPr>
              <a:t>base 템플릿 클론</a:t>
            </a:r>
          </a:p>
        </p:txBody>
      </p:sp>
      <p:sp>
        <p:nvSpPr>
          <p:cNvPr id="9" name="Rectangle 8"/>
          <p:cNvSpPr/>
          <p:nvPr/>
        </p:nvSpPr>
        <p:spPr>
          <a:xfrm>
            <a:off x="1325880" y="1783080"/>
            <a:ext cx="9966960" cy="59436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47088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66B"/>
                </a:solidFill>
              </a:rPr>
              <a:t>git clone https://github.com/studioKjm/ai-harness-template
        /path/to/your/ai-harness-template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34640"/>
            <a:ext cx="11064240" cy="1417320"/>
          </a:xfrm>
          <a:prstGeom prst="rect">
            <a:avLst/>
          </a:prstGeom>
          <a:solidFill>
            <a:srgbClr val="2A3A5A"/>
          </a:solidFill>
          <a:ln w="190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834640"/>
            <a:ext cx="640080" cy="141732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461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F172A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94436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8C42"/>
                </a:solidFill>
              </a:rPr>
              <a:t>harness-customizer 클론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25880" y="3429000"/>
            <a:ext cx="9966960" cy="59436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3493008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66B"/>
                </a:solidFill>
              </a:rPr>
              <a:t>git clone https://github.com/easyseop/harness-customizer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480560"/>
            <a:ext cx="11064240" cy="1417320"/>
          </a:xfrm>
          <a:prstGeom prst="rect">
            <a:avLst/>
          </a:prstGeom>
          <a:solidFill>
            <a:srgbClr val="2A3A5A"/>
          </a:solidFill>
          <a:ln w="19050">
            <a:solidFill>
              <a:srgbClr val="06D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480560"/>
            <a:ext cx="640080" cy="1417320"/>
          </a:xfrm>
          <a:prstGeom prst="rect">
            <a:avLst/>
          </a:prstGeom>
          <a:solidFill>
            <a:srgbClr val="06D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8920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F172A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59028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6D68A"/>
                </a:solidFill>
              </a:rPr>
              <a:t>CLAUDE.md에서 경로 한 줄 수정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25880" y="5074920"/>
            <a:ext cx="9966960" cy="59436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63040" y="5138928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66B"/>
                </a:solidFill>
              </a:rPr>
              <a:t>| BASE_HARNESS_PATH | /path/to/your/ai-harness-template |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solidFill>
            <a:srgbClr val="0A2212"/>
          </a:solidFill>
          <a:ln w="19050">
            <a:solidFill>
              <a:srgbClr val="06D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0990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6D68A"/>
                </a:solidFill>
              </a:rPr>
              <a:t>✅  이후 Claude Code에서 프로젝트 열고  /customize  를 입력하면 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0" y="457200"/>
            <a:ext cx="5029200" cy="5029200"/>
          </a:xfrm>
          <a:prstGeom prst="ellipse">
            <a:avLst/>
          </a:prstGeom>
          <a:solidFill>
            <a:srgbClr val="081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109728" cy="59436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A9EFF"/>
                </a:solidFill>
              </a:rPr>
              <a:t>자연어 입력 한 줄로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7276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8C9E8"/>
                </a:solidFill>
              </a:rPr>
              <a:t>어느 파일을 고쳐야 하는지 즉시 탐색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109728" cy="5943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C42"/>
                </a:solidFill>
              </a:rPr>
              <a:t>적용 전 시뮬레이션으로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3288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8C9E8"/>
                </a:solidFill>
              </a:rPr>
              <a:t>Before/After 효과를 미리 확인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108960"/>
            <a:ext cx="109728" cy="594360"/>
          </a:xfrm>
          <a:prstGeom prst="rect">
            <a:avLst/>
          </a:prstGeom>
          <a:solidFill>
            <a:srgbClr val="06D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1089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D68A"/>
                </a:solidFill>
              </a:rPr>
              <a:t>승인 후에만 파일 수정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9300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8C9E8"/>
                </a:solidFill>
              </a:rPr>
              <a:t>실수 없이 안전하게 적용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069080"/>
            <a:ext cx="109728" cy="594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690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AA"/>
                </a:solidFill>
              </a:rPr>
              <a:t>자동 변경 이력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45312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8C9E8"/>
                </a:solidFill>
              </a:rPr>
              <a:t>base 대비 무엇이 달라졌는지 항상 파악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029200"/>
            <a:ext cx="109728" cy="594360"/>
          </a:xfrm>
          <a:prstGeom prst="rect">
            <a:avLst/>
          </a:prstGeom>
          <a:solidFill>
            <a:srgbClr val="FFD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66B"/>
                </a:solidFill>
              </a:rPr>
              <a:t>도메인 지식 주입으로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41324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8C9E8"/>
                </a:solidFill>
              </a:rPr>
              <a:t>사내 맥락에 맞는 구체적 제안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080760"/>
            <a:ext cx="11064240" cy="548640"/>
          </a:xfrm>
          <a:prstGeom prst="rect">
            <a:avLst/>
          </a:prstGeom>
          <a:solidFill>
            <a:srgbClr val="040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9EFF"/>
                </a:solidFill>
              </a:rPr>
              <a:t>github.com/easyseop/harness-customizer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